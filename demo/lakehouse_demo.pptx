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640080" cy="6400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Lakehouse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Pipeline.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Production-Style Demo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→ Kafka → Spark → MinIO → Trino → Metabase → DataHub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297680"/>
            <a:ext cx="12801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lakehouse-stack  ·  2026-05-13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in the box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wired in docker-compose, healthchecked, ready on first boot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411480"/>
            <a:ext cx="109728" cy="3200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697480" cy="960120"/>
          </a:xfrm>
          <a:prstGeom prst="rect">
            <a:avLst/>
          </a:prstGeom>
          <a:solidFill>
            <a:srgbClr val="121828"/>
          </a:solidFill>
          <a:ln w="9525">
            <a:solidFill>
              <a:srgbClr val="232C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9601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533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16459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5432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18928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source of truth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1280160"/>
            <a:ext cx="2697480" cy="960120"/>
          </a:xfrm>
          <a:prstGeom prst="rect">
            <a:avLst/>
          </a:prstGeom>
          <a:solidFill>
            <a:srgbClr val="121828"/>
          </a:solidFill>
          <a:ln w="9525">
            <a:solidFill>
              <a:srgbClr val="232C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9272" y="1280160"/>
            <a:ext cx="73152" cy="9601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3533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Kafka + UI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16459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9092 / 8082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18928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spine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1344" y="1280160"/>
            <a:ext cx="2697480" cy="960120"/>
          </a:xfrm>
          <a:prstGeom prst="rect">
            <a:avLst/>
          </a:prstGeom>
          <a:solidFill>
            <a:srgbClr val="121828"/>
          </a:solidFill>
          <a:ln w="9525">
            <a:solidFill>
              <a:srgbClr val="232C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81344" y="1280160"/>
            <a:ext cx="73152" cy="9601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13533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Debezium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82512" y="16459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82512" y="18928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from Postgres → Kafka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404872"/>
            <a:ext cx="2697480" cy="960120"/>
          </a:xfrm>
          <a:prstGeom prst="rect">
            <a:avLst/>
          </a:prstGeom>
          <a:solidFill>
            <a:srgbClr val="121828"/>
          </a:solidFill>
          <a:ln w="9525">
            <a:solidFill>
              <a:srgbClr val="232C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404872"/>
            <a:ext cx="73152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4780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Spark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" y="27706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3017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+ streaming ETL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19272" y="2404872"/>
            <a:ext cx="2697480" cy="960120"/>
          </a:xfrm>
          <a:prstGeom prst="rect">
            <a:avLst/>
          </a:prstGeom>
          <a:solidFill>
            <a:srgbClr val="121828"/>
          </a:solidFill>
          <a:ln w="9525">
            <a:solidFill>
              <a:srgbClr val="232C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9272" y="2404872"/>
            <a:ext cx="73152" cy="9601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24780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MinIO + Hive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520440" y="27706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9001 / 9083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20440" y="3017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lake + Iceberg metastore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81344" y="2404872"/>
            <a:ext cx="2697480" cy="960120"/>
          </a:xfrm>
          <a:prstGeom prst="rect">
            <a:avLst/>
          </a:prstGeom>
          <a:solidFill>
            <a:srgbClr val="121828"/>
          </a:solidFill>
          <a:ln w="9525">
            <a:solidFill>
              <a:srgbClr val="232C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2404872"/>
            <a:ext cx="73152" cy="9601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24780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Trino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82512" y="27706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8181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82512" y="3017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SQL across lake + PG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529584"/>
            <a:ext cx="2697480" cy="960120"/>
          </a:xfrm>
          <a:prstGeom prst="rect">
            <a:avLst/>
          </a:prstGeom>
          <a:solidFill>
            <a:srgbClr val="121828"/>
          </a:solidFill>
          <a:ln w="9525">
            <a:solidFill>
              <a:srgbClr val="232C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529584"/>
            <a:ext cx="73152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6027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Airflow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8368" y="38953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" y="41422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lineage push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319272" y="3529584"/>
            <a:ext cx="2697480" cy="960120"/>
          </a:xfrm>
          <a:prstGeom prst="rect">
            <a:avLst/>
          </a:prstGeom>
          <a:solidFill>
            <a:srgbClr val="121828"/>
          </a:solidFill>
          <a:ln w="9525">
            <a:solidFill>
              <a:srgbClr val="232C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19272" y="3529584"/>
            <a:ext cx="73152" cy="9601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20440" y="36027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Metabase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520440" y="38953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520440" y="41422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81344" y="3529584"/>
            <a:ext cx="2697480" cy="960120"/>
          </a:xfrm>
          <a:prstGeom prst="rect">
            <a:avLst/>
          </a:prstGeom>
          <a:solidFill>
            <a:srgbClr val="121828"/>
          </a:solidFill>
          <a:ln w="9525">
            <a:solidFill>
              <a:srgbClr val="232C4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81344" y="3529584"/>
            <a:ext cx="73152" cy="9601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2512" y="36027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DataHub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82512" y="38953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82512" y="41422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governance · lineage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Mock control plane · pipeline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service map; every node pings its container every 5 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411480"/>
            <a:ext cx="109728" cy="3200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572768"/>
            <a:ext cx="8375904" cy="2820924"/>
          </a:xfrm>
          <a:prstGeom prst="rect">
            <a:avLst/>
          </a:prstGeom>
          <a:solidFill>
            <a:srgbClr val="121828"/>
          </a:solidFill>
          <a:ln w="6350">
            <a:solidFill>
              <a:srgbClr val="232C44"/>
            </a:solidFill>
            <a:prstDash val="solid"/>
          </a:ln>
        </p:spPr>
      </p:sp>
      <p:pic>
        <p:nvPicPr>
          <p:cNvPr id="6" name="Image 0" descr="/Users/vsf-thuynt519-l/Documents/GitHub/lakehouse-stack/demo/screenshots/dashboard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822960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Mock control plane · full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latency, live row / object / offset counts on one page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411480"/>
            <a:ext cx="109728" cy="3200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4147" y="1069848"/>
            <a:ext cx="2935705" cy="3826764"/>
          </a:xfrm>
          <a:prstGeom prst="rect">
            <a:avLst/>
          </a:prstGeom>
          <a:solidFill>
            <a:srgbClr val="121828"/>
          </a:solidFill>
          <a:ln w="6350">
            <a:solidFill>
              <a:srgbClr val="232C44"/>
            </a:solidFill>
            <a:prstDash val="solid"/>
          </a:ln>
        </p:spPr>
      </p:sp>
      <p:pic>
        <p:nvPicPr>
          <p:cNvPr id="6" name="Image 0" descr="/Users/vsf-thuynt519-l/Documents/GitHub/lakehouse-stack/demo/screenshots/dashboard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7299" y="1143000"/>
            <a:ext cx="2789401" cy="36804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Mock control plane · wide layout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1920×1200 capture suitable for a projector / second screen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411480"/>
            <a:ext cx="109728" cy="320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069848"/>
            <a:ext cx="6035040" cy="3826764"/>
          </a:xfrm>
          <a:prstGeom prst="rect">
            <a:avLst/>
          </a:prstGeom>
          <a:solidFill>
            <a:srgbClr val="121828"/>
          </a:solidFill>
          <a:ln w="6350">
            <a:solidFill>
              <a:srgbClr val="232C44"/>
            </a:solidFill>
            <a:prstDash val="solid"/>
          </a:ln>
        </p:spPr>
      </p:sp>
      <p:pic>
        <p:nvPicPr>
          <p:cNvPr id="6" name="Image 0" descr="/Users/vsf-thuynt519-l/Documents/GitHub/lakehouse-stack/demo/screenshots/dashboard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1143000"/>
            <a:ext cx="5888736" cy="36804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Kafka UI · topics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topics — 4 internal + 'orders' with 3 partitions, 254 bytes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411480"/>
            <a:ext cx="109728" cy="3200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069848"/>
            <a:ext cx="6035040" cy="3826764"/>
          </a:xfrm>
          <a:prstGeom prst="rect">
            <a:avLst/>
          </a:prstGeom>
          <a:solidFill>
            <a:srgbClr val="121828"/>
          </a:solidFill>
          <a:ln w="6350">
            <a:solidFill>
              <a:srgbClr val="232C44"/>
            </a:solidFill>
            <a:prstDash val="solid"/>
          </a:ln>
        </p:spPr>
      </p:sp>
      <p:pic>
        <p:nvPicPr>
          <p:cNvPr id="6" name="Image 0" descr="/Users/vsf-thuynt519-l/Documents/GitHub/lakehouse-stack/demo/screenshots/services/kafka_ui_top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1143000"/>
            <a:ext cx="5888736" cy="36804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Kafka UI · topic 'orders' messages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JSON events preloaded — Notebook, Pen Set, Desk Lamp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411480"/>
            <a:ext cx="109728" cy="3200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069848"/>
            <a:ext cx="6035040" cy="3826764"/>
          </a:xfrm>
          <a:prstGeom prst="rect">
            <a:avLst/>
          </a:prstGeom>
          <a:solidFill>
            <a:srgbClr val="121828"/>
          </a:solidFill>
          <a:ln w="6350">
            <a:solidFill>
              <a:srgbClr val="232C44"/>
            </a:solidFill>
            <a:prstDash val="solid"/>
          </a:ln>
        </p:spPr>
      </p:sp>
      <p:pic>
        <p:nvPicPr>
          <p:cNvPr id="6" name="Image 0" descr="/Users/vsf-thuynt519-l/Documents/GitHub/lakehouse-stack/demo/screenshots/services/kafka_ui_or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1143000"/>
            <a:ext cx="5888736" cy="36804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Airflow · DAGs 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lab13_end_to_end_pipeline · @daily · tags: datahub-lineage, lab13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411480"/>
            <a:ext cx="109728" cy="3200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069848"/>
            <a:ext cx="6035040" cy="3826764"/>
          </a:xfrm>
          <a:prstGeom prst="rect">
            <a:avLst/>
          </a:prstGeom>
          <a:solidFill>
            <a:srgbClr val="121828"/>
          </a:solidFill>
          <a:ln w="6350">
            <a:solidFill>
              <a:srgbClr val="232C44"/>
            </a:solidFill>
            <a:prstDash val="solid"/>
          </a:ln>
        </p:spPr>
      </p:sp>
      <p:pic>
        <p:nvPicPr>
          <p:cNvPr id="6" name="Image 0" descr="/Users/vsf-thuynt519-l/Documents/GitHub/lakehouse-stack/demo/screenshots/services/airflow_da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1143000"/>
            <a:ext cx="5888736" cy="36804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Airflow · lab13 DAG graph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tasks · all success · DataHub plugin emits dataset lineage at each step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411480"/>
            <a:ext cx="109728" cy="3200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1069848"/>
            <a:ext cx="5522976" cy="3506724"/>
          </a:xfrm>
          <a:prstGeom prst="rect">
            <a:avLst/>
          </a:prstGeom>
          <a:solidFill>
            <a:srgbClr val="121828"/>
          </a:solidFill>
          <a:ln w="6350">
            <a:solidFill>
              <a:srgbClr val="232C44"/>
            </a:solidFill>
            <a:prstDash val="solid"/>
          </a:ln>
        </p:spPr>
      </p:sp>
      <p:pic>
        <p:nvPicPr>
          <p:cNvPr id="6" name="Image 0" descr="/Users/vsf-thuynt519-l/Documents/GitHub/lakehouse-stack/demo/screenshots/services/airflow_dag_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664" y="1143000"/>
            <a:ext cx="5376672" cy="33604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" y="4640580"/>
            <a:ext cx="1508760" cy="292608"/>
          </a:xfrm>
          <a:prstGeom prst="rect">
            <a:avLst/>
          </a:prstGeom>
          <a:solidFill>
            <a:srgbClr val="121828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7220" y="4640580"/>
            <a:ext cx="54864" cy="2926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" y="46405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wait_for_input_data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17420" y="4640580"/>
            <a:ext cx="1508760" cy="292608"/>
          </a:xfrm>
          <a:prstGeom prst="rect">
            <a:avLst/>
          </a:prstGeom>
          <a:solidFill>
            <a:srgbClr val="121828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17420" y="4640580"/>
            <a:ext cx="54864" cy="2926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63724" y="46405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ingest_data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817620" y="4640580"/>
            <a:ext cx="1508760" cy="292608"/>
          </a:xfrm>
          <a:prstGeom prst="rect">
            <a:avLst/>
          </a:prstGeom>
          <a:solidFill>
            <a:srgbClr val="121828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17620" y="4640580"/>
            <a:ext cx="54864" cy="2926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63924" y="46405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validate_data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17820" y="4640580"/>
            <a:ext cx="1508760" cy="292608"/>
          </a:xfrm>
          <a:prstGeom prst="rect">
            <a:avLst/>
          </a:prstGeom>
          <a:solidFill>
            <a:srgbClr val="121828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17820" y="4640580"/>
            <a:ext cx="54864" cy="2926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64124" y="46405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transform_data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018020" y="4640580"/>
            <a:ext cx="1508760" cy="292608"/>
          </a:xfrm>
          <a:prstGeom prst="rect">
            <a:avLst/>
          </a:prstGeom>
          <a:solidFill>
            <a:srgbClr val="121828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18020" y="4640580"/>
            <a:ext cx="54864" cy="2926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64324" y="46405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publish_data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MinIO · lakehouse bucket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/ silver / gold / raw — 8 objects, 1.4 KiB, private bucket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411480"/>
            <a:ext cx="109728" cy="320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069848"/>
            <a:ext cx="6035040" cy="3826764"/>
          </a:xfrm>
          <a:prstGeom prst="rect">
            <a:avLst/>
          </a:prstGeom>
          <a:solidFill>
            <a:srgbClr val="121828"/>
          </a:solidFill>
          <a:ln w="6350">
            <a:solidFill>
              <a:srgbClr val="232C44"/>
            </a:solidFill>
            <a:prstDash val="solid"/>
          </a:ln>
        </p:spPr>
      </p:sp>
      <p:pic>
        <p:nvPicPr>
          <p:cNvPr id="6" name="Image 0" descr="/Users/vsf-thuynt519-l/Documents/GitHub/lakehouse-stack/demo/screenshots/services/minio_brow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1143000"/>
            <a:ext cx="5888736" cy="36804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MinIO · bronze layer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Trino-written orders text data lives under lakehouse/bronze/orders/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411480"/>
            <a:ext cx="109728" cy="320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069848"/>
            <a:ext cx="6035040" cy="3826764"/>
          </a:xfrm>
          <a:prstGeom prst="rect">
            <a:avLst/>
          </a:prstGeom>
          <a:solidFill>
            <a:srgbClr val="121828"/>
          </a:solidFill>
          <a:ln w="6350">
            <a:solidFill>
              <a:srgbClr val="232C44"/>
            </a:solidFill>
            <a:prstDash val="solid"/>
          </a:ln>
        </p:spPr>
      </p:sp>
      <p:pic>
        <p:nvPicPr>
          <p:cNvPr id="6" name="Image 0" descr="/Users/vsf-thuynt519-l/Documents/GitHub/lakehouse-stack/demo/screenshots/services/minio_bron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1143000"/>
            <a:ext cx="5888736" cy="36804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Trino · cluster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480 · 1 active worker · ready to federate lakehouse ∪ postgres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411480"/>
            <a:ext cx="109728" cy="3200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069848"/>
            <a:ext cx="6035040" cy="3826764"/>
          </a:xfrm>
          <a:prstGeom prst="rect">
            <a:avLst/>
          </a:prstGeom>
          <a:solidFill>
            <a:srgbClr val="121828"/>
          </a:solidFill>
          <a:ln w="6350">
            <a:solidFill>
              <a:srgbClr val="232C44"/>
            </a:solidFill>
            <a:prstDash val="solid"/>
          </a:ln>
        </p:spPr>
      </p:sp>
      <p:pic>
        <p:nvPicPr>
          <p:cNvPr id="6" name="Image 0" descr="/Users/vsf-thuynt519-l/Documents/GitHub/lakehouse-stack/demo/screenshots/services/trino_u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1143000"/>
            <a:ext cx="5888736" cy="36804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6-Act demo walkthrough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 answers a different 'how do you do X' question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411480"/>
            <a:ext cx="109728" cy="3200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4069080" cy="960120"/>
          </a:xfrm>
          <a:prstGeom prst="rect">
            <a:avLst/>
          </a:prstGeom>
          <a:solidFill>
            <a:srgbClr val="121828"/>
          </a:solidFill>
          <a:ln w="9525">
            <a:solidFill>
              <a:srgbClr val="232C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9601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99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63677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— Postgres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19476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(bootcamp_dw) + raw orders.csv on de_postgres:5432.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4069080" cy="960120"/>
          </a:xfrm>
          <a:prstGeom prst="rect">
            <a:avLst/>
          </a:prstGeom>
          <a:solidFill>
            <a:srgbClr val="121828"/>
          </a:solidFill>
          <a:ln w="9525">
            <a:solidFill>
              <a:srgbClr val="232C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325880"/>
            <a:ext cx="73152" cy="9601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399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10328" y="163677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Bronze → Silver → Gold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10328" y="19476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lab07_setup.sql through Trino; parquet lands in MinIO.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4069080" cy="960120"/>
          </a:xfrm>
          <a:prstGeom prst="rect">
            <a:avLst/>
          </a:prstGeom>
          <a:solidFill>
            <a:srgbClr val="121828"/>
          </a:solidFill>
          <a:ln w="9525">
            <a:solidFill>
              <a:srgbClr val="232C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23160"/>
            <a:ext cx="73152" cy="9601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496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273405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 spine — Kafka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" y="304495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'orders' preloaded with 3 events; Kafka UI on 8082.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423160"/>
            <a:ext cx="4069080" cy="960120"/>
          </a:xfrm>
          <a:prstGeom prst="rect">
            <a:avLst/>
          </a:prstGeom>
          <a:solidFill>
            <a:srgbClr val="121828"/>
          </a:solidFill>
          <a:ln w="9525">
            <a:solidFill>
              <a:srgbClr val="232C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423160"/>
            <a:ext cx="73152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496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0328" y="273405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 — Airflow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10328" y="304495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lab13_end_to_end_pipeline triggers 5 tasks green.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4069080" cy="960120"/>
          </a:xfrm>
          <a:prstGeom prst="rect">
            <a:avLst/>
          </a:prstGeom>
          <a:solidFill>
            <a:srgbClr val="121828"/>
          </a:solidFill>
          <a:ln w="9525">
            <a:solidFill>
              <a:srgbClr val="232C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520440"/>
            <a:ext cx="73152" cy="9601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593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" y="383133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 — Metabase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8368" y="414223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on bootcamp_dw.mart_daily_category_sales.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520440"/>
            <a:ext cx="4069080" cy="960120"/>
          </a:xfrm>
          <a:prstGeom prst="rect">
            <a:avLst/>
          </a:prstGeom>
          <a:solidFill>
            <a:srgbClr val="121828"/>
          </a:solidFill>
          <a:ln w="9525">
            <a:solidFill>
              <a:srgbClr val="232C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520440"/>
            <a:ext cx="73152" cy="9601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3593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10328" y="383133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— DataHub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910328" y="414223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./scripts/start_datahub.sh — catalog + Airflow lineage.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Cross-engine SQL — one query, two systems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reads parquet from MinIO and live tables from Postgres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411480"/>
            <a:ext cx="109728" cy="3200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8046720" cy="2468880"/>
          </a:xfrm>
          <a:prstGeom prst="rect">
            <a:avLst/>
          </a:prstGeom>
          <a:solidFill>
            <a:srgbClr val="0E1422"/>
          </a:solidFill>
          <a:ln w="9525">
            <a:solidFill>
              <a:srgbClr val="232C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0200"/>
            <a:ext cx="7589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buNone/>
            </a:pPr>
            <a:r>
              <a:rPr lang="en-US" sz="16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'gold' </a:t>
            </a:r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600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src, customer_id::</a:t>
            </a:r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pPr indent="0" marL="0">
              <a:buNone/>
            </a:pPr>
            <a:r>
              <a:rPr lang="en-US" sz="1600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k, total_revenue::</a:t>
            </a:r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pPr indent="0" marL="0">
              <a:buNone/>
            </a:pPr>
            <a:r>
              <a:rPr lang="en-US" sz="1600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lakehouse.gold.customer_sales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 ALL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buNone/>
            </a:pPr>
            <a:r>
              <a:rPr lang="en-US" sz="1600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'pg',   order_id::</a:t>
            </a:r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pPr indent="0" marL="0">
              <a:buNone/>
            </a:pPr>
            <a:r>
              <a:rPr lang="en-US" sz="1600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(quantity*unit_price)::</a:t>
            </a:r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postgres.public.orders;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8046720" cy="868680"/>
          </a:xfrm>
          <a:prstGeom prst="rect">
            <a:avLst/>
          </a:prstGeom>
          <a:solidFill>
            <a:srgbClr val="0E1422"/>
          </a:solidFill>
          <a:ln w="9525">
            <a:solidFill>
              <a:srgbClr val="232C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2519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(6 rows): </a:t>
            </a:r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 | 101 | 400.5    </a:t>
            </a:r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 | 1 | 77.50    pg | 2 | 50.00    pg | 3 | 120.00    pg | 4 | 100.00    pg | 5 | 136.50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15 — DataHub governance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script swaps in DataHub's stack; one script swaps back.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411480"/>
            <a:ext cx="109728" cy="3200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./scripts/start_datahub.sh stops bootcamp Kafka, runs datahub docker quickstart, ingests metadata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UI at localhost:9002 — datasets, owners, tags, business glossary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DataHub plugin emits dataset lineage from inlets / outlets at run time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lineage: Postgres → Airflow tasks → bronze → silver → gold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./scripts/stop_datahub.sh restores Kafka on 9092 for the rest of the demo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1371600"/>
            <a:ext cx="2834640" cy="420624"/>
          </a:xfrm>
          <a:prstGeom prst="rect">
            <a:avLst/>
          </a:prstGeom>
          <a:solidFill>
            <a:srgbClr val="121828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1371600"/>
            <a:ext cx="54864" cy="42062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98464" y="137160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69480" y="1792224"/>
            <a:ext cx="0" cy="109728"/>
          </a:xfrm>
          <a:prstGeom prst="line">
            <a:avLst/>
          </a:prstGeom>
          <a:noFill/>
          <a:ln w="19050">
            <a:solidFill>
              <a:srgbClr val="232C44"/>
            </a:solidFill>
            <a:prstDash val="dash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52160" y="1901952"/>
            <a:ext cx="2834640" cy="420624"/>
          </a:xfrm>
          <a:prstGeom prst="rect">
            <a:avLst/>
          </a:prstGeom>
          <a:solidFill>
            <a:srgbClr val="121828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1901952"/>
            <a:ext cx="54864" cy="42062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98464" y="190195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69480" y="2322576"/>
            <a:ext cx="0" cy="109728"/>
          </a:xfrm>
          <a:prstGeom prst="line">
            <a:avLst/>
          </a:prstGeom>
          <a:noFill/>
          <a:ln w="19050">
            <a:solidFill>
              <a:srgbClr val="232C44"/>
            </a:solidFill>
            <a:prstDash val="dash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852160" y="2432304"/>
            <a:ext cx="2834640" cy="420624"/>
          </a:xfrm>
          <a:prstGeom prst="rect">
            <a:avLst/>
          </a:prstGeom>
          <a:solidFill>
            <a:srgbClr val="121828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432304"/>
            <a:ext cx="54864" cy="42062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243230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69480" y="2852928"/>
            <a:ext cx="0" cy="109728"/>
          </a:xfrm>
          <a:prstGeom prst="line">
            <a:avLst/>
          </a:prstGeom>
          <a:noFill/>
          <a:ln w="19050">
            <a:solidFill>
              <a:srgbClr val="232C44"/>
            </a:solidFill>
            <a:prstDash val="dash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852160" y="2962656"/>
            <a:ext cx="2834640" cy="420624"/>
          </a:xfrm>
          <a:prstGeom prst="rect">
            <a:avLst/>
          </a:prstGeom>
          <a:solidFill>
            <a:srgbClr val="121828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2962656"/>
            <a:ext cx="54864" cy="42062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98464" y="296265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69480" y="3383280"/>
            <a:ext cx="0" cy="109728"/>
          </a:xfrm>
          <a:prstGeom prst="line">
            <a:avLst/>
          </a:prstGeom>
          <a:noFill/>
          <a:ln w="19050">
            <a:solidFill>
              <a:srgbClr val="232C44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852160" y="3493008"/>
            <a:ext cx="2834640" cy="420624"/>
          </a:xfrm>
          <a:prstGeom prst="rect">
            <a:avLst/>
          </a:prstGeom>
          <a:solidFill>
            <a:srgbClr val="121828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0" y="3493008"/>
            <a:ext cx="54864" cy="42062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98464" y="349300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69480" y="3913632"/>
            <a:ext cx="0" cy="109728"/>
          </a:xfrm>
          <a:prstGeom prst="line">
            <a:avLst/>
          </a:prstGeom>
          <a:noFill/>
          <a:ln w="19050">
            <a:solidFill>
              <a:srgbClr val="232C44"/>
            </a:solidFill>
            <a:prstDash val="dash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852160" y="4023360"/>
            <a:ext cx="2834640" cy="420624"/>
          </a:xfrm>
          <a:prstGeom prst="rect">
            <a:avLst/>
          </a:prstGeom>
          <a:solidFill>
            <a:srgbClr val="121828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2160" y="4023360"/>
            <a:ext cx="54864" cy="42062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98464" y="402336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counts pulled from running containers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numbers update every 5 s on the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411480"/>
            <a:ext cx="109728" cy="3200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280160"/>
          <a:ext cx="640080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21031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8A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8A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 orders 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bootcamp_dw.fact_orders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lakehouse.bronze.orders_raw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lakehouse.silver.orders_clean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lakehouse.gold.customer_sales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(aggregate)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MinIO objects in lakehouse bucket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topics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'orders' offsets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 DAGs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lab13 historical runs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 adjustments &amp; gotchas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from the README and why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411480"/>
            <a:ext cx="109728" cy="3200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8046720" cy="594360"/>
          </a:xfrm>
          <a:prstGeom prst="rect">
            <a:avLst/>
          </a:prstGeom>
          <a:solidFill>
            <a:srgbClr val="121828"/>
          </a:solidFill>
          <a:ln w="9525">
            <a:solidFill>
              <a:srgbClr val="232C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73152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380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Trino 8081 → 8181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3807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port 8081 was held by a stale listener. Remapped in docker-compose.yml and README.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66544"/>
            <a:ext cx="8046720" cy="594360"/>
          </a:xfrm>
          <a:prstGeom prst="rect">
            <a:avLst/>
          </a:prstGeom>
          <a:solidFill>
            <a:srgbClr val="121828"/>
          </a:solidFill>
          <a:ln w="9525">
            <a:solidFill>
              <a:srgbClr val="232C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066544"/>
            <a:ext cx="73152" cy="5943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Metabase 3000 → 3001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1214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port 3000 was already in use. The dashboard reflects the new 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07208"/>
            <a:ext cx="8046720" cy="594360"/>
          </a:xfrm>
          <a:prstGeom prst="rect">
            <a:avLst/>
          </a:prstGeom>
          <a:solidFill>
            <a:srgbClr val="121828"/>
          </a:solidFill>
          <a:ln w="9525">
            <a:solidFill>
              <a:srgbClr val="232C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807208"/>
            <a:ext cx="73152" cy="5943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862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DataHub conflicts on 9092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2862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Kafka brokers want 9092. start_datahub.sh stops bootcamp Kafka before quickstart.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47872"/>
            <a:ext cx="8046720" cy="594360"/>
          </a:xfrm>
          <a:prstGeom prst="rect">
            <a:avLst/>
          </a:prstGeom>
          <a:solidFill>
            <a:srgbClr val="121828"/>
          </a:solidFill>
          <a:ln w="9525">
            <a:solidFill>
              <a:srgbClr val="232C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547872"/>
            <a:ext cx="73152" cy="5943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602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Airflow CLI: docker exec -u airflow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36027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user has no PATH; the dashboard reads counts straight from airflow_db Postgres.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288536"/>
            <a:ext cx="8046720" cy="594360"/>
          </a:xfrm>
          <a:prstGeom prst="rect">
            <a:avLst/>
          </a:prstGeom>
          <a:solidFill>
            <a:srgbClr val="121828"/>
          </a:solidFill>
          <a:ln w="9525">
            <a:solidFill>
              <a:srgbClr val="232C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288536"/>
            <a:ext cx="73152" cy="59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 4040 may show idle (red)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4343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UI binds only while a job runs — expected, not a failure.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run the demo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commands, end to end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411480"/>
            <a:ext cx="109728" cy="3200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475488" cy="47548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07008" y="1344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1600200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Postgres, Kafka, Spark, Trino, MinIO, Airflow, Metabase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47672"/>
            <a:ext cx="475488" cy="47548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47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07008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./scripts/demo_serve.py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2221992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live dashboard on http://localhost:7777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569464"/>
            <a:ext cx="475488" cy="47548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07008" y="2587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Walk through Act 1 → Act 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07008" y="2843784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live counts tick up as you exercise each layer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191256"/>
            <a:ext cx="475488" cy="47548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07008" y="32095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./scripts/start_datahub.sh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07008" y="3465576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DataHub up + ingests metadata for Act 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813048"/>
            <a:ext cx="475488" cy="47548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07008" y="38313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./scripts/stop_datahub.sh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07008" y="408736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Kafka on 9092 so the next demo runs clean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128016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6360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sheet: DEMO.md  ·  Repo: github.com/sophie-nguyenthuthuy/lakehouse-stack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Lakehouse Pipeline Demo</dc:title>
  <dc:subject>PptxGenJS Presentation</dc:subject>
  <dc:creator>lakehouse-stack</dc:creator>
  <cp:lastModifiedBy>lakehouse-stack</cp:lastModifiedBy>
  <cp:revision>1</cp:revision>
  <dcterms:created xsi:type="dcterms:W3CDTF">2026-05-13T14:10:03Z</dcterms:created>
  <dcterms:modified xsi:type="dcterms:W3CDTF">2026-05-13T14:10:03Z</dcterms:modified>
</cp:coreProperties>
</file>